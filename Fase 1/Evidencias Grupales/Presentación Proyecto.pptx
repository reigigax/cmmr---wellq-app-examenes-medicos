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29LT Zarid Display" charset="1" panose="00000500000000000000"/>
      <p:regular r:id="rId16"/>
    </p:embeddedFont>
    <p:embeddedFont>
      <p:font typeface="Glacial Indifference" charset="1" panose="00000000000000000000"/>
      <p:regular r:id="rId17"/>
    </p:embeddedFont>
    <p:embeddedFont>
      <p:font typeface="Open Sans Bold" charset="1" panose="020B0806030504020204"/>
      <p:regular r:id="rId18"/>
    </p:embeddedFont>
    <p:embeddedFont>
      <p:font typeface="Open Sans" charset="1" panose="020B0606030504020204"/>
      <p:regular r:id="rId19"/>
    </p:embeddedFont>
    <p:embeddedFont>
      <p:font typeface="Glacial Indifference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6.jpe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39.png" Type="http://schemas.openxmlformats.org/officeDocument/2006/relationships/image"/><Relationship Id="rId13" Target="../media/image40.svg" Type="http://schemas.openxmlformats.org/officeDocument/2006/relationships/image"/><Relationship Id="rId14" Target="../media/image41.png" Type="http://schemas.openxmlformats.org/officeDocument/2006/relationships/image"/><Relationship Id="rId15" Target="../media/image42.sv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43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4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D1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41693" y="-2057400"/>
            <a:ext cx="2018590" cy="4114800"/>
          </a:xfrm>
          <a:custGeom>
            <a:avLst/>
            <a:gdLst/>
            <a:ahLst/>
            <a:cxnLst/>
            <a:rect r="r" b="b" t="t" l="l"/>
            <a:pathLst>
              <a:path h="4114800" w="2018590">
                <a:moveTo>
                  <a:pt x="0" y="0"/>
                </a:moveTo>
                <a:lnTo>
                  <a:pt x="2018590" y="0"/>
                </a:lnTo>
                <a:lnTo>
                  <a:pt x="20185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0384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05057" y="7721070"/>
            <a:ext cx="2682943" cy="2682943"/>
          </a:xfrm>
          <a:custGeom>
            <a:avLst/>
            <a:gdLst/>
            <a:ahLst/>
            <a:cxnLst/>
            <a:rect r="r" b="b" t="t" l="l"/>
            <a:pathLst>
              <a:path h="2682943" w="2682943">
                <a:moveTo>
                  <a:pt x="0" y="0"/>
                </a:moveTo>
                <a:lnTo>
                  <a:pt x="2682943" y="0"/>
                </a:lnTo>
                <a:lnTo>
                  <a:pt x="2682943" y="2682942"/>
                </a:lnTo>
                <a:lnTo>
                  <a:pt x="0" y="26829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130101" y="-64928"/>
            <a:ext cx="2682943" cy="2682943"/>
          </a:xfrm>
          <a:custGeom>
            <a:avLst/>
            <a:gdLst/>
            <a:ahLst/>
            <a:cxnLst/>
            <a:rect r="r" b="b" t="t" l="l"/>
            <a:pathLst>
              <a:path h="2682943" w="2682943">
                <a:moveTo>
                  <a:pt x="0" y="0"/>
                </a:moveTo>
                <a:lnTo>
                  <a:pt x="2682943" y="0"/>
                </a:lnTo>
                <a:lnTo>
                  <a:pt x="2682943" y="2682942"/>
                </a:lnTo>
                <a:lnTo>
                  <a:pt x="0" y="26829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02162" y="8256336"/>
            <a:ext cx="3059792" cy="2664801"/>
          </a:xfrm>
          <a:custGeom>
            <a:avLst/>
            <a:gdLst/>
            <a:ahLst/>
            <a:cxnLst/>
            <a:rect r="r" b="b" t="t" l="l"/>
            <a:pathLst>
              <a:path h="2664801" w="3059792">
                <a:moveTo>
                  <a:pt x="0" y="0"/>
                </a:moveTo>
                <a:lnTo>
                  <a:pt x="3059792" y="0"/>
                </a:lnTo>
                <a:lnTo>
                  <a:pt x="3059792" y="2664801"/>
                </a:lnTo>
                <a:lnTo>
                  <a:pt x="0" y="26648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true" rot="0">
            <a:off x="12721674" y="-519271"/>
            <a:ext cx="3059792" cy="2664801"/>
          </a:xfrm>
          <a:custGeom>
            <a:avLst/>
            <a:gdLst/>
            <a:ahLst/>
            <a:cxnLst/>
            <a:rect r="r" b="b" t="t" l="l"/>
            <a:pathLst>
              <a:path h="2664801" w="3059792">
                <a:moveTo>
                  <a:pt x="0" y="2664801"/>
                </a:moveTo>
                <a:lnTo>
                  <a:pt x="3059793" y="2664801"/>
                </a:lnTo>
                <a:lnTo>
                  <a:pt x="3059793" y="0"/>
                </a:lnTo>
                <a:lnTo>
                  <a:pt x="0" y="0"/>
                </a:lnTo>
                <a:lnTo>
                  <a:pt x="0" y="266480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39155" y="2990386"/>
            <a:ext cx="10809689" cy="351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66"/>
              </a:lnSpc>
            </a:pPr>
            <a:r>
              <a:rPr lang="en-US" sz="9400" spc="300">
                <a:solidFill>
                  <a:srgbClr val="292727"/>
                </a:solidFill>
                <a:latin typeface="29LT Zarid Display"/>
                <a:ea typeface="29LT Zarid Display"/>
                <a:cs typeface="29LT Zarid Display"/>
                <a:sym typeface="29LT Zarid Display"/>
              </a:rPr>
              <a:t>PROYECTO WELLQ APP EXÁMENES MÉDICOS </a:t>
            </a:r>
          </a:p>
        </p:txBody>
      </p:sp>
      <p:sp>
        <p:nvSpPr>
          <p:cNvPr name="Freeform 8" id="8"/>
          <p:cNvSpPr/>
          <p:nvPr/>
        </p:nvSpPr>
        <p:spPr>
          <a:xfrm flipH="false" flipV="true" rot="0">
            <a:off x="9581571" y="825633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-2355530" y="179475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6346118" y="179475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602162" y="63429"/>
            <a:ext cx="3347502" cy="749701"/>
          </a:xfrm>
          <a:custGeom>
            <a:avLst/>
            <a:gdLst/>
            <a:ahLst/>
            <a:cxnLst/>
            <a:rect r="r" b="b" t="t" l="l"/>
            <a:pathLst>
              <a:path h="749701" w="3347502">
                <a:moveTo>
                  <a:pt x="0" y="0"/>
                </a:moveTo>
                <a:lnTo>
                  <a:pt x="3347502" y="0"/>
                </a:lnTo>
                <a:lnTo>
                  <a:pt x="3347502" y="749701"/>
                </a:lnTo>
                <a:lnTo>
                  <a:pt x="0" y="7497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581571" y="6747260"/>
            <a:ext cx="6199896" cy="166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439" spc="-9">
                <a:solidFill>
                  <a:srgbClr val="29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Asignatura: Capstone.</a:t>
            </a:r>
          </a:p>
          <a:p>
            <a:pPr algn="l">
              <a:lnSpc>
                <a:spcPts val="3341"/>
              </a:lnSpc>
            </a:pPr>
            <a:r>
              <a:rPr lang="en-US" sz="2439" spc="-9">
                <a:solidFill>
                  <a:srgbClr val="29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Seccion: 005V.</a:t>
            </a:r>
          </a:p>
          <a:p>
            <a:pPr algn="l">
              <a:lnSpc>
                <a:spcPts val="3341"/>
              </a:lnSpc>
            </a:pPr>
            <a:r>
              <a:rPr lang="en-US" sz="2439" spc="-9">
                <a:solidFill>
                  <a:srgbClr val="29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Profesor: Felix Cifuentes Cid.</a:t>
            </a:r>
          </a:p>
          <a:p>
            <a:pPr algn="l">
              <a:lnSpc>
                <a:spcPts val="3341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1171" y="5011014"/>
            <a:ext cx="2780161" cy="7458968"/>
          </a:xfrm>
          <a:custGeom>
            <a:avLst/>
            <a:gdLst/>
            <a:ahLst/>
            <a:cxnLst/>
            <a:rect r="r" b="b" t="t" l="l"/>
            <a:pathLst>
              <a:path h="7458968" w="2780161">
                <a:moveTo>
                  <a:pt x="2780161" y="0"/>
                </a:moveTo>
                <a:lnTo>
                  <a:pt x="0" y="0"/>
                </a:lnTo>
                <a:lnTo>
                  <a:pt x="0" y="7458968"/>
                </a:lnTo>
                <a:lnTo>
                  <a:pt x="2780161" y="7458968"/>
                </a:lnTo>
                <a:lnTo>
                  <a:pt x="278016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20502" y="-389826"/>
            <a:ext cx="4122295" cy="4114800"/>
          </a:xfrm>
          <a:custGeom>
            <a:avLst/>
            <a:gdLst/>
            <a:ahLst/>
            <a:cxnLst/>
            <a:rect r="r" b="b" t="t" l="l"/>
            <a:pathLst>
              <a:path h="4114800" w="4122295">
                <a:moveTo>
                  <a:pt x="0" y="0"/>
                </a:moveTo>
                <a:lnTo>
                  <a:pt x="4122295" y="0"/>
                </a:lnTo>
                <a:lnTo>
                  <a:pt x="41222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7609745" y="3078727"/>
            <a:ext cx="6153624" cy="7106211"/>
            <a:chOff x="0" y="0"/>
            <a:chExt cx="8204832" cy="947494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33350"/>
              <a:ext cx="7821979" cy="726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114"/>
                </a:lnSpc>
                <a:spcBef>
                  <a:spcPct val="0"/>
                </a:spcBef>
              </a:pPr>
              <a:r>
                <a:rPr lang="en-US" sz="2938">
                  <a:solidFill>
                    <a:srgbClr val="292727"/>
                  </a:solidFill>
                  <a:latin typeface="29LT Zarid Display"/>
                  <a:ea typeface="29LT Zarid Display"/>
                  <a:cs typeface="29LT Zarid Display"/>
                  <a:sym typeface="29LT Zarid Display"/>
                </a:rPr>
                <a:t>Carina Torres 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764861"/>
              <a:ext cx="8204832" cy="12177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78"/>
                </a:lnSpc>
              </a:pPr>
              <a:r>
                <a:rPr lang="en-US" sz="1770">
                  <a:solidFill>
                    <a:srgbClr val="2927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Cargo: Líder de Proyecto / Analista de Requerimientos</a:t>
              </a:r>
            </a:p>
            <a:p>
              <a:pPr algn="l">
                <a:lnSpc>
                  <a:spcPts val="2478"/>
                </a:lnSpc>
              </a:pPr>
              <a:r>
                <a:rPr lang="en-US" sz="1770">
                  <a:solidFill>
                    <a:srgbClr val="2927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Funciones: Análisis de requerimientos, coordinación y seguimiento del proyecto, apoyo en desarrollo.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358945"/>
              <a:ext cx="7821979" cy="726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114"/>
                </a:lnSpc>
                <a:spcBef>
                  <a:spcPct val="0"/>
                </a:spcBef>
              </a:pPr>
              <a:r>
                <a:rPr lang="en-US" sz="2938">
                  <a:solidFill>
                    <a:srgbClr val="292727"/>
                  </a:solidFill>
                  <a:latin typeface="29LT Zarid Display"/>
                  <a:ea typeface="29LT Zarid Display"/>
                  <a:cs typeface="29LT Zarid Display"/>
                  <a:sym typeface="29LT Zarid Display"/>
                </a:rPr>
                <a:t>Marcelo Baeza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8257155"/>
              <a:ext cx="8204832" cy="12177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78"/>
                </a:lnSpc>
              </a:pPr>
              <a:r>
                <a:rPr lang="en-US" sz="1770">
                  <a:solidFill>
                    <a:srgbClr val="2927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Cargo: Administrador de Base de Datos / QA</a:t>
              </a:r>
            </a:p>
            <a:p>
              <a:pPr algn="l">
                <a:lnSpc>
                  <a:spcPts val="2478"/>
                </a:lnSpc>
              </a:pPr>
              <a:r>
                <a:rPr lang="en-US" sz="1770">
                  <a:solidFill>
                    <a:srgbClr val="2927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Funciones: Diseño y gestión de BD, pruebas y validación de la solución.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898331"/>
              <a:ext cx="7821979" cy="726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114"/>
                </a:lnSpc>
                <a:spcBef>
                  <a:spcPct val="0"/>
                </a:spcBef>
              </a:pPr>
              <a:r>
                <a:rPr lang="en-US" sz="2938">
                  <a:solidFill>
                    <a:srgbClr val="292727"/>
                  </a:solidFill>
                  <a:latin typeface="29LT Zarid Display"/>
                  <a:ea typeface="29LT Zarid Display"/>
                  <a:cs typeface="29LT Zarid Display"/>
                  <a:sym typeface="29LT Zarid Display"/>
                </a:rPr>
                <a:t>Renato González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796542"/>
              <a:ext cx="8204832" cy="12177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78"/>
                </a:lnSpc>
              </a:pPr>
              <a:r>
                <a:rPr lang="en-US" sz="1770">
                  <a:solidFill>
                    <a:srgbClr val="2927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Cargo: Desarrollador Backend</a:t>
              </a:r>
            </a:p>
            <a:p>
              <a:pPr algn="l">
                <a:lnSpc>
                  <a:spcPts val="2478"/>
                </a:lnSpc>
              </a:pPr>
              <a:r>
                <a:rPr lang="en-US" sz="1770">
                  <a:solidFill>
                    <a:srgbClr val="2927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Funciones: Desarrollo de servicios backend, APIs e integración con la base de datos.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382491"/>
              <a:ext cx="7821979" cy="726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114"/>
                </a:lnSpc>
                <a:spcBef>
                  <a:spcPct val="0"/>
                </a:spcBef>
              </a:pPr>
              <a:r>
                <a:rPr lang="en-US" sz="2938">
                  <a:solidFill>
                    <a:srgbClr val="292727"/>
                  </a:solidFill>
                  <a:latin typeface="29LT Zarid Display"/>
                  <a:ea typeface="29LT Zarid Display"/>
                  <a:cs typeface="29LT Zarid Display"/>
                  <a:sym typeface="29LT Zarid Display"/>
                </a:rPr>
                <a:t>Mayra Osorio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280701"/>
              <a:ext cx="8204832" cy="12177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78"/>
                </a:lnSpc>
              </a:pPr>
              <a:r>
                <a:rPr lang="en-US" sz="1770">
                  <a:solidFill>
                    <a:srgbClr val="2927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Cargo: Desarrolladora Frontend / Diseñadora UX/UI</a:t>
              </a:r>
            </a:p>
            <a:p>
              <a:pPr algn="l">
                <a:lnSpc>
                  <a:spcPts val="2478"/>
                </a:lnSpc>
              </a:pPr>
              <a:r>
                <a:rPr lang="en-US" sz="1770">
                  <a:solidFill>
                    <a:srgbClr val="2927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Funciones: Diseño y desarrollo de panel web y experiencia de usuario.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476297" y="196916"/>
            <a:ext cx="9335406" cy="278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89"/>
              </a:lnSpc>
            </a:pPr>
            <a:r>
              <a:rPr lang="en-US" sz="8999" spc="-233">
                <a:solidFill>
                  <a:srgbClr val="292727"/>
                </a:solidFill>
                <a:latin typeface="29LT Zarid Display"/>
                <a:ea typeface="29LT Zarid Display"/>
                <a:cs typeface="29LT Zarid Display"/>
                <a:sym typeface="29LT Zarid Display"/>
              </a:rPr>
              <a:t>INTEGRANTES DEL PROYECTO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476297" y="3199485"/>
            <a:ext cx="1597762" cy="6864696"/>
            <a:chOff x="0" y="0"/>
            <a:chExt cx="2130350" cy="91529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1417" y="4810898"/>
              <a:ext cx="2107515" cy="2107515"/>
            </a:xfrm>
            <a:custGeom>
              <a:avLst/>
              <a:gdLst/>
              <a:ahLst/>
              <a:cxnLst/>
              <a:rect r="r" b="b" t="t" l="l"/>
              <a:pathLst>
                <a:path h="2107515" w="2107515">
                  <a:moveTo>
                    <a:pt x="0" y="0"/>
                  </a:moveTo>
                  <a:lnTo>
                    <a:pt x="2107515" y="0"/>
                  </a:lnTo>
                  <a:lnTo>
                    <a:pt x="2107515" y="2107515"/>
                  </a:lnTo>
                  <a:lnTo>
                    <a:pt x="0" y="2107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0350" cy="2278449"/>
            </a:xfrm>
            <a:custGeom>
              <a:avLst/>
              <a:gdLst/>
              <a:ahLst/>
              <a:cxnLst/>
              <a:rect r="r" b="b" t="t" l="l"/>
              <a:pathLst>
                <a:path h="2278449" w="2130350">
                  <a:moveTo>
                    <a:pt x="0" y="0"/>
                  </a:moveTo>
                  <a:lnTo>
                    <a:pt x="2130350" y="0"/>
                  </a:lnTo>
                  <a:lnTo>
                    <a:pt x="2130350" y="2278449"/>
                  </a:lnTo>
                  <a:lnTo>
                    <a:pt x="0" y="2278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2405449"/>
              <a:ext cx="2130350" cy="2278449"/>
            </a:xfrm>
            <a:custGeom>
              <a:avLst/>
              <a:gdLst/>
              <a:ahLst/>
              <a:cxnLst/>
              <a:rect r="r" b="b" t="t" l="l"/>
              <a:pathLst>
                <a:path h="2278449" w="2130350">
                  <a:moveTo>
                    <a:pt x="0" y="0"/>
                  </a:moveTo>
                  <a:lnTo>
                    <a:pt x="2130350" y="0"/>
                  </a:lnTo>
                  <a:lnTo>
                    <a:pt x="2130350" y="2278449"/>
                  </a:lnTo>
                  <a:lnTo>
                    <a:pt x="0" y="2278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2835" y="7045413"/>
              <a:ext cx="2107515" cy="2107515"/>
            </a:xfrm>
            <a:custGeom>
              <a:avLst/>
              <a:gdLst/>
              <a:ahLst/>
              <a:cxnLst/>
              <a:rect r="r" b="b" t="t" l="l"/>
              <a:pathLst>
                <a:path h="2107515" w="2107515">
                  <a:moveTo>
                    <a:pt x="0" y="0"/>
                  </a:moveTo>
                  <a:lnTo>
                    <a:pt x="2107515" y="0"/>
                  </a:lnTo>
                  <a:lnTo>
                    <a:pt x="2107515" y="2107515"/>
                  </a:lnTo>
                  <a:lnTo>
                    <a:pt x="0" y="2107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45273" y="7354819"/>
            <a:ext cx="4391680" cy="3127409"/>
          </a:xfrm>
          <a:custGeom>
            <a:avLst/>
            <a:gdLst/>
            <a:ahLst/>
            <a:cxnLst/>
            <a:rect r="r" b="b" t="t" l="l"/>
            <a:pathLst>
              <a:path h="3127409" w="4391680">
                <a:moveTo>
                  <a:pt x="0" y="0"/>
                </a:moveTo>
                <a:lnTo>
                  <a:pt x="4391680" y="0"/>
                </a:lnTo>
                <a:lnTo>
                  <a:pt x="4391680" y="3127408"/>
                </a:lnTo>
                <a:lnTo>
                  <a:pt x="0" y="3127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31332" y="1014948"/>
            <a:ext cx="9291139" cy="109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3"/>
              </a:lnSpc>
            </a:pPr>
            <a:r>
              <a:rPr lang="en-US" sz="6399" spc="-166">
                <a:solidFill>
                  <a:srgbClr val="292727"/>
                </a:solidFill>
                <a:latin typeface="29LT Zarid Display"/>
                <a:ea typeface="29LT Zarid Display"/>
                <a:cs typeface="29LT Zarid Display"/>
                <a:sym typeface="29LT Zarid Display"/>
              </a:rPr>
              <a:t>PROBLEMA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390493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31332" y="2657753"/>
            <a:ext cx="9291139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9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Actualmente, los exámenes médicos pueden encontrarse fuera de la plataforma WellQ, mediante correos electrónicos o documentos físicos. Esto genera una fragmentación de la información clínica, dificultando su acceso oportuno, consulta y organización por parte de los profesionales.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74154" y="5617781"/>
            <a:ext cx="9291139" cy="109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3"/>
              </a:lnSpc>
            </a:pPr>
            <a:r>
              <a:rPr lang="en-US" sz="6399" spc="-166">
                <a:solidFill>
                  <a:srgbClr val="292727"/>
                </a:solidFill>
                <a:latin typeface="29LT Zarid Display"/>
                <a:ea typeface="29LT Zarid Display"/>
                <a:cs typeface="29LT Zarid Display"/>
                <a:sym typeface="29LT Zarid Display"/>
              </a:rPr>
              <a:t>SOLUCIÓN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69530" y="6786245"/>
            <a:ext cx="9291139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9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Desarrollar una funcionalidad integrada a WellQ que permita cargar, almacenar, consultar y gestionar digitalmente los exámenes médicos, vinculándolos con la información de los pacientes y sus sesiones de rehabilitación.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44502" y="5544085"/>
            <a:ext cx="5445387" cy="3527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2"/>
              </a:lnSpc>
              <a:spcBef>
                <a:spcPct val="0"/>
              </a:spcBef>
            </a:pPr>
            <a:r>
              <a:rPr lang="en-US" sz="2822" spc="-73">
                <a:solidFill>
                  <a:srgbClr val="29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solución contempla:</a:t>
            </a:r>
          </a:p>
          <a:p>
            <a:pPr algn="l">
              <a:lnSpc>
                <a:spcPts val="3132"/>
              </a:lnSpc>
              <a:spcBef>
                <a:spcPct val="0"/>
              </a:spcBef>
            </a:pPr>
          </a:p>
          <a:p>
            <a:pPr algn="l" marL="609287" indent="-304643" lvl="1">
              <a:lnSpc>
                <a:spcPts val="3132"/>
              </a:lnSpc>
              <a:spcBef>
                <a:spcPct val="0"/>
              </a:spcBef>
              <a:buFont typeface="Arial"/>
              <a:buChar char="•"/>
            </a:pPr>
            <a:r>
              <a:rPr lang="en-US" sz="2822" spc="-73">
                <a:solidFill>
                  <a:srgbClr val="29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822" spc="-73">
                <a:solidFill>
                  <a:srgbClr val="29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Backend: procesamiento y gestión de documentos.</a:t>
            </a:r>
          </a:p>
          <a:p>
            <a:pPr algn="l" marL="609287" indent="-304643" lvl="1">
              <a:lnSpc>
                <a:spcPts val="3132"/>
              </a:lnSpc>
              <a:spcBef>
                <a:spcPct val="0"/>
              </a:spcBef>
              <a:buFont typeface="Arial"/>
              <a:buChar char="•"/>
            </a:pPr>
            <a:r>
              <a:rPr lang="en-US" sz="2822" spc="-73">
                <a:solidFill>
                  <a:srgbClr val="29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Panel web: consulta por parte de profesionales clínicos.</a:t>
            </a:r>
          </a:p>
          <a:p>
            <a:pPr algn="l" marL="609287" indent="-304643" lvl="1">
              <a:lnSpc>
                <a:spcPts val="3132"/>
              </a:lnSpc>
              <a:spcBef>
                <a:spcPct val="0"/>
              </a:spcBef>
              <a:buFont typeface="Arial"/>
              <a:buChar char="•"/>
            </a:pPr>
            <a:r>
              <a:rPr lang="en-US" sz="2822" spc="-73">
                <a:solidFill>
                  <a:srgbClr val="29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Seguridad: autenticación, autorización, validación de archivos y auditoría.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5941" y="7979143"/>
            <a:ext cx="4026571" cy="3506778"/>
          </a:xfrm>
          <a:custGeom>
            <a:avLst/>
            <a:gdLst/>
            <a:ahLst/>
            <a:cxnLst/>
            <a:rect r="r" b="b" t="t" l="l"/>
            <a:pathLst>
              <a:path h="3506778" w="4026571">
                <a:moveTo>
                  <a:pt x="0" y="0"/>
                </a:moveTo>
                <a:lnTo>
                  <a:pt x="4026571" y="0"/>
                </a:lnTo>
                <a:lnTo>
                  <a:pt x="4026571" y="3506778"/>
                </a:lnTo>
                <a:lnTo>
                  <a:pt x="0" y="3506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858424" y="-658191"/>
            <a:ext cx="2004711" cy="5378492"/>
          </a:xfrm>
          <a:custGeom>
            <a:avLst/>
            <a:gdLst/>
            <a:ahLst/>
            <a:cxnLst/>
            <a:rect r="r" b="b" t="t" l="l"/>
            <a:pathLst>
              <a:path h="5378492" w="2004711">
                <a:moveTo>
                  <a:pt x="2004710" y="5378492"/>
                </a:moveTo>
                <a:lnTo>
                  <a:pt x="0" y="5378492"/>
                </a:lnTo>
                <a:lnTo>
                  <a:pt x="0" y="0"/>
                </a:lnTo>
                <a:lnTo>
                  <a:pt x="2004710" y="0"/>
                </a:lnTo>
                <a:lnTo>
                  <a:pt x="2004710" y="53784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5941" y="3630681"/>
            <a:ext cx="3183575" cy="786908"/>
            <a:chOff x="0" y="0"/>
            <a:chExt cx="970160" cy="2398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0159" cy="239802"/>
            </a:xfrm>
            <a:custGeom>
              <a:avLst/>
              <a:gdLst/>
              <a:ahLst/>
              <a:cxnLst/>
              <a:rect r="r" b="b" t="t" l="l"/>
              <a:pathLst>
                <a:path h="239802" w="970159">
                  <a:moveTo>
                    <a:pt x="119901" y="0"/>
                  </a:moveTo>
                  <a:lnTo>
                    <a:pt x="850259" y="0"/>
                  </a:lnTo>
                  <a:cubicBezTo>
                    <a:pt x="916478" y="0"/>
                    <a:pt x="970159" y="53681"/>
                    <a:pt x="970159" y="119901"/>
                  </a:cubicBezTo>
                  <a:lnTo>
                    <a:pt x="970159" y="119901"/>
                  </a:lnTo>
                  <a:cubicBezTo>
                    <a:pt x="970159" y="186120"/>
                    <a:pt x="916478" y="239802"/>
                    <a:pt x="850259" y="239802"/>
                  </a:cubicBezTo>
                  <a:lnTo>
                    <a:pt x="119901" y="239802"/>
                  </a:lnTo>
                  <a:cubicBezTo>
                    <a:pt x="53681" y="239802"/>
                    <a:pt x="0" y="186120"/>
                    <a:pt x="0" y="119901"/>
                  </a:cubicBezTo>
                  <a:lnTo>
                    <a:pt x="0" y="119901"/>
                  </a:lnTo>
                  <a:cubicBezTo>
                    <a:pt x="0" y="53681"/>
                    <a:pt x="53681" y="0"/>
                    <a:pt x="119901" y="0"/>
                  </a:cubicBezTo>
                  <a:close/>
                </a:path>
              </a:pathLst>
            </a:custGeom>
            <a:solidFill>
              <a:srgbClr val="BBD1C4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970160" cy="296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927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General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92547" y="3630681"/>
            <a:ext cx="3183575" cy="786908"/>
            <a:chOff x="0" y="0"/>
            <a:chExt cx="970160" cy="2398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0159" cy="239802"/>
            </a:xfrm>
            <a:custGeom>
              <a:avLst/>
              <a:gdLst/>
              <a:ahLst/>
              <a:cxnLst/>
              <a:rect r="r" b="b" t="t" l="l"/>
              <a:pathLst>
                <a:path h="239802" w="970159">
                  <a:moveTo>
                    <a:pt x="119901" y="0"/>
                  </a:moveTo>
                  <a:lnTo>
                    <a:pt x="850259" y="0"/>
                  </a:lnTo>
                  <a:cubicBezTo>
                    <a:pt x="916478" y="0"/>
                    <a:pt x="970159" y="53681"/>
                    <a:pt x="970159" y="119901"/>
                  </a:cubicBezTo>
                  <a:lnTo>
                    <a:pt x="970159" y="119901"/>
                  </a:lnTo>
                  <a:cubicBezTo>
                    <a:pt x="970159" y="186120"/>
                    <a:pt x="916478" y="239802"/>
                    <a:pt x="850259" y="239802"/>
                  </a:cubicBezTo>
                  <a:lnTo>
                    <a:pt x="119901" y="239802"/>
                  </a:lnTo>
                  <a:cubicBezTo>
                    <a:pt x="53681" y="239802"/>
                    <a:pt x="0" y="186120"/>
                    <a:pt x="0" y="119901"/>
                  </a:cubicBezTo>
                  <a:lnTo>
                    <a:pt x="0" y="119901"/>
                  </a:lnTo>
                  <a:cubicBezTo>
                    <a:pt x="0" y="53681"/>
                    <a:pt x="53681" y="0"/>
                    <a:pt x="119901" y="0"/>
                  </a:cubicBezTo>
                  <a:close/>
                </a:path>
              </a:pathLst>
            </a:custGeom>
            <a:solidFill>
              <a:srgbClr val="BBD1C4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970160" cy="287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2927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Específicos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12874" y="4634598"/>
            <a:ext cx="6895498" cy="129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5" indent="-269872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29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Desarrollar una solución de software para la gestión digital de exámenes médicos en la plataforma WellQ.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92547" y="4625073"/>
            <a:ext cx="6810246" cy="4187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29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Analizar los requerimientos funcionales y de seguridad del sistema, diseñar la arquitectura, base de datos e interfaces de la solución, desarrollar las funcionalidades necesarias para la carga, almacenamiento, consulta y gestión de exámenes médicos, implementar controles de autenticación, autorización, validación de archivos y auditoría, y realizar pruebas que permitan verificar el correcto funcionamiento y seguridad del software desarrollado. 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2874" y="1794600"/>
            <a:ext cx="9291139" cy="109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3"/>
              </a:lnSpc>
            </a:pPr>
            <a:r>
              <a:rPr lang="en-US" sz="6399" spc="-166">
                <a:solidFill>
                  <a:srgbClr val="292727"/>
                </a:solidFill>
                <a:latin typeface="29LT Zarid Display"/>
                <a:ea typeface="29LT Zarid Display"/>
                <a:cs typeface="29LT Zarid Display"/>
                <a:sym typeface="29LT Zarid Display"/>
              </a:rPr>
              <a:t>OBJETIVOS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-2102645"/>
            <a:ext cx="3254433" cy="4114800"/>
          </a:xfrm>
          <a:custGeom>
            <a:avLst/>
            <a:gdLst/>
            <a:ahLst/>
            <a:cxnLst/>
            <a:rect r="r" b="b" t="t" l="l"/>
            <a:pathLst>
              <a:path h="4114800" w="3254433">
                <a:moveTo>
                  <a:pt x="0" y="0"/>
                </a:moveTo>
                <a:lnTo>
                  <a:pt x="3254433" y="0"/>
                </a:lnTo>
                <a:lnTo>
                  <a:pt x="32544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342794"/>
            <a:ext cx="4670232" cy="2658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49"/>
              </a:lnSpc>
            </a:pPr>
            <a:r>
              <a:rPr lang="en-US" sz="5900" spc="-153">
                <a:solidFill>
                  <a:srgbClr val="292727"/>
                </a:solidFill>
                <a:latin typeface="29LT Zarid Display"/>
                <a:ea typeface="29LT Zarid Display"/>
                <a:cs typeface="29LT Zarid Display"/>
                <a:sym typeface="29LT Zarid Display"/>
              </a:rPr>
              <a:t>ALCANCES Y LIMITACIONES DEL PROYECTO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94072" y="326365"/>
            <a:ext cx="8318700" cy="4181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8"/>
              </a:lnSpc>
            </a:pPr>
            <a:r>
              <a:rPr lang="en-US" b="true" sz="2641">
                <a:solidFill>
                  <a:srgbClr val="2927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Alcances:</a:t>
            </a:r>
          </a:p>
          <a:p>
            <a:pPr algn="l" marL="570374" indent="-285187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292727"/>
                </a:solidFill>
                <a:latin typeface="Open Sans"/>
                <a:ea typeface="Open Sans"/>
                <a:cs typeface="Open Sans"/>
                <a:sym typeface="Open Sans"/>
              </a:rPr>
              <a:t>Carga y visualización de exámenes médicos</a:t>
            </a:r>
          </a:p>
          <a:p>
            <a:pPr algn="l" marL="570374" indent="-285187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292727"/>
                </a:solidFill>
                <a:latin typeface="Open Sans"/>
                <a:ea typeface="Open Sans"/>
                <a:cs typeface="Open Sans"/>
                <a:sym typeface="Open Sans"/>
              </a:rPr>
              <a:t>Almacenamiento y asociación con información del paciente</a:t>
            </a:r>
          </a:p>
          <a:p>
            <a:pPr algn="l" marL="570374" indent="-285187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292727"/>
                </a:solidFill>
                <a:latin typeface="Open Sans"/>
                <a:ea typeface="Open Sans"/>
                <a:cs typeface="Open Sans"/>
                <a:sym typeface="Open Sans"/>
              </a:rPr>
              <a:t>Consulta y gestión de documentos </a:t>
            </a:r>
          </a:p>
          <a:p>
            <a:pPr algn="l" marL="570374" indent="-285187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292727"/>
                </a:solidFill>
                <a:latin typeface="Open Sans"/>
                <a:ea typeface="Open Sans"/>
                <a:cs typeface="Open Sans"/>
                <a:sym typeface="Open Sans"/>
              </a:rPr>
              <a:t>Eliminación lógica</a:t>
            </a:r>
          </a:p>
          <a:p>
            <a:pPr algn="l" marL="570374" indent="-285187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292727"/>
                </a:solidFill>
                <a:latin typeface="Open Sans"/>
                <a:ea typeface="Open Sans"/>
                <a:cs typeface="Open Sans"/>
                <a:sym typeface="Open Sans"/>
              </a:rPr>
              <a:t>Autenticación  y autorización </a:t>
            </a:r>
          </a:p>
          <a:p>
            <a:pPr algn="l" marL="570374" indent="-285187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292727"/>
                </a:solidFill>
                <a:latin typeface="Open Sans"/>
                <a:ea typeface="Open Sans"/>
                <a:cs typeface="Open Sans"/>
                <a:sym typeface="Open Sans"/>
              </a:rPr>
              <a:t>Validación de Archivos y registros de auditoria</a:t>
            </a:r>
          </a:p>
          <a:p>
            <a:pPr algn="l" marL="570374" indent="-285187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292727"/>
                </a:solidFill>
                <a:latin typeface="Open Sans"/>
                <a:ea typeface="Open Sans"/>
                <a:cs typeface="Open Sans"/>
                <a:sym typeface="Open Sans"/>
              </a:rPr>
              <a:t>backend, base de datos y página web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94072" y="5293736"/>
            <a:ext cx="8318700" cy="4181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8"/>
              </a:lnSpc>
            </a:pPr>
            <a:r>
              <a:rPr lang="en-US" sz="2641" b="true">
                <a:solidFill>
                  <a:srgbClr val="2927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Limitaciones</a:t>
            </a:r>
            <a:r>
              <a:rPr lang="en-US" b="true" sz="2641">
                <a:solidFill>
                  <a:srgbClr val="29272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</a:t>
            </a:r>
          </a:p>
          <a:p>
            <a:pPr algn="l" marL="570374" indent="-285187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292727"/>
                </a:solidFill>
                <a:latin typeface="Open Sans"/>
                <a:ea typeface="Open Sans"/>
                <a:cs typeface="Open Sans"/>
                <a:sym typeface="Open Sans"/>
              </a:rPr>
              <a:t>Desarrollo condicionado al periodo académico.</a:t>
            </a:r>
          </a:p>
          <a:p>
            <a:pPr algn="l" marL="570374" indent="-285187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292727"/>
                </a:solidFill>
                <a:latin typeface="Open Sans"/>
                <a:ea typeface="Open Sans"/>
                <a:cs typeface="Open Sans"/>
                <a:sym typeface="Open Sans"/>
              </a:rPr>
              <a:t>Comunicación inexistente con la empresa involucrada</a:t>
            </a:r>
          </a:p>
          <a:p>
            <a:pPr algn="l" marL="570374" indent="-285187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292727"/>
                </a:solidFill>
                <a:latin typeface="Open Sans"/>
                <a:ea typeface="Open Sans"/>
                <a:cs typeface="Open Sans"/>
                <a:sym typeface="Open Sans"/>
              </a:rPr>
              <a:t>Posibles dificultades de integración entre componentes.</a:t>
            </a:r>
          </a:p>
          <a:p>
            <a:pPr algn="l" marL="570374" indent="-285187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292727"/>
                </a:solidFill>
                <a:latin typeface="Open Sans"/>
                <a:ea typeface="Open Sans"/>
                <a:cs typeface="Open Sans"/>
                <a:sym typeface="Open Sans"/>
              </a:rPr>
              <a:t>Restricciones tecnicas del entorno de desarrollo</a:t>
            </a:r>
          </a:p>
          <a:p>
            <a:pPr algn="l" marL="570374" indent="-285187" lvl="1">
              <a:lnSpc>
                <a:spcPts val="3698"/>
              </a:lnSpc>
              <a:buFont typeface="Arial"/>
              <a:buChar char="•"/>
            </a:pPr>
            <a:r>
              <a:rPr lang="en-US" sz="2641">
                <a:solidFill>
                  <a:srgbClr val="292727"/>
                </a:solidFill>
                <a:latin typeface="Open Sans"/>
                <a:ea typeface="Open Sans"/>
                <a:cs typeface="Open Sans"/>
                <a:sym typeface="Open Sans"/>
              </a:rPr>
              <a:t>El proyecto se orienta a la gestión documental y no al diagnóstico médico.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23318" y="7581194"/>
            <a:ext cx="4391680" cy="3127409"/>
          </a:xfrm>
          <a:custGeom>
            <a:avLst/>
            <a:gdLst/>
            <a:ahLst/>
            <a:cxnLst/>
            <a:rect r="r" b="b" t="t" l="l"/>
            <a:pathLst>
              <a:path h="3127409" w="4391680">
                <a:moveTo>
                  <a:pt x="0" y="0"/>
                </a:moveTo>
                <a:lnTo>
                  <a:pt x="4391680" y="0"/>
                </a:lnTo>
                <a:lnTo>
                  <a:pt x="4391680" y="3127408"/>
                </a:lnTo>
                <a:lnTo>
                  <a:pt x="0" y="3127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84092" y="2174186"/>
            <a:ext cx="9144129" cy="5938628"/>
            <a:chOff x="0" y="0"/>
            <a:chExt cx="12192172" cy="7918171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0" t="1169" r="0" b="1169"/>
            <a:stretch>
              <a:fillRect/>
            </a:stretch>
          </p:blipFill>
          <p:spPr>
            <a:xfrm flipH="false" flipV="false">
              <a:off x="0" y="0"/>
              <a:ext cx="12192172" cy="7918171"/>
            </a:xfrm>
            <a:prstGeom prst="rect">
              <a:avLst/>
            </a:prstGeom>
          </p:spPr>
        </p:pic>
      </p:grpSp>
      <p:sp>
        <p:nvSpPr>
          <p:cNvPr name="Freeform 5" id="5"/>
          <p:cNvSpPr/>
          <p:nvPr/>
        </p:nvSpPr>
        <p:spPr>
          <a:xfrm flipH="false" flipV="false" rot="-5400000">
            <a:off x="2421607" y="-1083904"/>
            <a:ext cx="1982585" cy="4114800"/>
          </a:xfrm>
          <a:custGeom>
            <a:avLst/>
            <a:gdLst/>
            <a:ahLst/>
            <a:cxnLst/>
            <a:rect r="r" b="b" t="t" l="l"/>
            <a:pathLst>
              <a:path h="4114800" w="1982585">
                <a:moveTo>
                  <a:pt x="0" y="0"/>
                </a:moveTo>
                <a:lnTo>
                  <a:pt x="1982585" y="0"/>
                </a:lnTo>
                <a:lnTo>
                  <a:pt x="198258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55500" y="2574389"/>
            <a:ext cx="6062640" cy="377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3"/>
              </a:lnSpc>
            </a:pPr>
            <a:r>
              <a:rPr lang="en-US" sz="6399" spc="-166">
                <a:solidFill>
                  <a:srgbClr val="292727"/>
                </a:solidFill>
                <a:latin typeface="29LT Zarid Display"/>
                <a:ea typeface="29LT Zarid Display"/>
                <a:cs typeface="29LT Zarid Display"/>
                <a:sym typeface="29LT Zarid Display"/>
              </a:rPr>
              <a:t>METODOLOGÍA DE TRABAJO PARA EL DESARROLLO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5500" y="6750104"/>
            <a:ext cx="6288766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29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Metodología seleccionada: </a:t>
            </a:r>
            <a:r>
              <a:rPr lang="en-US" sz="2599" b="true">
                <a:solidFill>
                  <a:srgbClr val="29272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Cascada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9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Proceso secuencial, organizado y adecuado al alcance definido y a la comunicación limitada con la empresa.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33979" y="2903261"/>
            <a:ext cx="2500791" cy="2500791"/>
          </a:xfrm>
          <a:custGeom>
            <a:avLst/>
            <a:gdLst/>
            <a:ahLst/>
            <a:cxnLst/>
            <a:rect r="r" b="b" t="t" l="l"/>
            <a:pathLst>
              <a:path h="2500791" w="2500791">
                <a:moveTo>
                  <a:pt x="0" y="0"/>
                </a:moveTo>
                <a:lnTo>
                  <a:pt x="2500791" y="0"/>
                </a:lnTo>
                <a:lnTo>
                  <a:pt x="2500791" y="2500791"/>
                </a:lnTo>
                <a:lnTo>
                  <a:pt x="0" y="25007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137823" y="5706720"/>
            <a:ext cx="2500791" cy="2500791"/>
          </a:xfrm>
          <a:custGeom>
            <a:avLst/>
            <a:gdLst/>
            <a:ahLst/>
            <a:cxnLst/>
            <a:rect r="r" b="b" t="t" l="l"/>
            <a:pathLst>
              <a:path h="2500791" w="2500791">
                <a:moveTo>
                  <a:pt x="0" y="0"/>
                </a:moveTo>
                <a:lnTo>
                  <a:pt x="2500791" y="0"/>
                </a:lnTo>
                <a:lnTo>
                  <a:pt x="2500791" y="2500792"/>
                </a:lnTo>
                <a:lnTo>
                  <a:pt x="0" y="2500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9137823" y="2903261"/>
            <a:ext cx="2500791" cy="2500791"/>
          </a:xfrm>
          <a:custGeom>
            <a:avLst/>
            <a:gdLst/>
            <a:ahLst/>
            <a:cxnLst/>
            <a:rect r="r" b="b" t="t" l="l"/>
            <a:pathLst>
              <a:path h="2500791" w="2500791">
                <a:moveTo>
                  <a:pt x="0" y="0"/>
                </a:moveTo>
                <a:lnTo>
                  <a:pt x="2500791" y="0"/>
                </a:lnTo>
                <a:lnTo>
                  <a:pt x="2500791" y="2500791"/>
                </a:lnTo>
                <a:lnTo>
                  <a:pt x="0" y="25007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6333979" y="5706720"/>
            <a:ext cx="2500791" cy="2500791"/>
          </a:xfrm>
          <a:custGeom>
            <a:avLst/>
            <a:gdLst/>
            <a:ahLst/>
            <a:cxnLst/>
            <a:rect r="r" b="b" t="t" l="l"/>
            <a:pathLst>
              <a:path h="2500791" w="2500791">
                <a:moveTo>
                  <a:pt x="0" y="0"/>
                </a:moveTo>
                <a:lnTo>
                  <a:pt x="2500791" y="0"/>
                </a:lnTo>
                <a:lnTo>
                  <a:pt x="2500791" y="2500792"/>
                </a:lnTo>
                <a:lnTo>
                  <a:pt x="0" y="25007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7991631" y="5533843"/>
            <a:ext cx="1989332" cy="0"/>
          </a:xfrm>
          <a:prstGeom prst="line">
            <a:avLst/>
          </a:prstGeom>
          <a:ln cap="flat" w="47625">
            <a:solidFill>
              <a:srgbClr val="292727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 flipV="true">
            <a:off x="9007840" y="4560720"/>
            <a:ext cx="0" cy="1989332"/>
          </a:xfrm>
          <a:prstGeom prst="line">
            <a:avLst/>
          </a:prstGeom>
          <a:ln cap="flat" w="47625">
            <a:solidFill>
              <a:srgbClr val="292727"/>
            </a:solidFill>
            <a:prstDash val="solid"/>
            <a:headEnd type="arrow" len="sm" w="med"/>
            <a:tailEnd type="arrow" len="sm" w="med"/>
          </a:ln>
        </p:spPr>
      </p:sp>
      <p:grpSp>
        <p:nvGrpSpPr>
          <p:cNvPr name="Group 8" id="8"/>
          <p:cNvGrpSpPr/>
          <p:nvPr/>
        </p:nvGrpSpPr>
        <p:grpSpPr>
          <a:xfrm rot="0">
            <a:off x="5987729" y="6526177"/>
            <a:ext cx="1827415" cy="1827415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8FAB9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163143" y="2610492"/>
            <a:ext cx="1827415" cy="1827415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8FAB9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87729" y="2610492"/>
            <a:ext cx="1827415" cy="1827415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E8B9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163143" y="6526177"/>
            <a:ext cx="1827415" cy="1827415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7E8B97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434397" y="6928850"/>
            <a:ext cx="958514" cy="965536"/>
          </a:xfrm>
          <a:custGeom>
            <a:avLst/>
            <a:gdLst/>
            <a:ahLst/>
            <a:cxnLst/>
            <a:rect r="r" b="b" t="t" l="l"/>
            <a:pathLst>
              <a:path h="965536" w="958514">
                <a:moveTo>
                  <a:pt x="0" y="0"/>
                </a:moveTo>
                <a:lnTo>
                  <a:pt x="958514" y="0"/>
                </a:lnTo>
                <a:lnTo>
                  <a:pt x="958514" y="965536"/>
                </a:lnTo>
                <a:lnTo>
                  <a:pt x="0" y="9655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6405132" y="2975751"/>
            <a:ext cx="992607" cy="965536"/>
          </a:xfrm>
          <a:custGeom>
            <a:avLst/>
            <a:gdLst/>
            <a:ahLst/>
            <a:cxnLst/>
            <a:rect r="r" b="b" t="t" l="l"/>
            <a:pathLst>
              <a:path h="965536" w="992607">
                <a:moveTo>
                  <a:pt x="0" y="0"/>
                </a:moveTo>
                <a:lnTo>
                  <a:pt x="992607" y="0"/>
                </a:lnTo>
                <a:lnTo>
                  <a:pt x="992607" y="965535"/>
                </a:lnTo>
                <a:lnTo>
                  <a:pt x="0" y="9655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true" rot="0">
            <a:off x="15418378" y="0"/>
            <a:ext cx="2869622" cy="2864404"/>
          </a:xfrm>
          <a:custGeom>
            <a:avLst/>
            <a:gdLst/>
            <a:ahLst/>
            <a:cxnLst/>
            <a:rect r="r" b="b" t="t" l="l"/>
            <a:pathLst>
              <a:path h="2864404" w="2869622">
                <a:moveTo>
                  <a:pt x="0" y="2864404"/>
                </a:moveTo>
                <a:lnTo>
                  <a:pt x="2869622" y="2864404"/>
                </a:lnTo>
                <a:lnTo>
                  <a:pt x="2869622" y="0"/>
                </a:lnTo>
                <a:lnTo>
                  <a:pt x="0" y="0"/>
                </a:lnTo>
                <a:lnTo>
                  <a:pt x="0" y="2864404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0" y="7422596"/>
            <a:ext cx="2869622" cy="2864404"/>
          </a:xfrm>
          <a:custGeom>
            <a:avLst/>
            <a:gdLst/>
            <a:ahLst/>
            <a:cxnLst/>
            <a:rect r="r" b="b" t="t" l="l"/>
            <a:pathLst>
              <a:path h="2864404" w="2869622">
                <a:moveTo>
                  <a:pt x="2869622" y="0"/>
                </a:moveTo>
                <a:lnTo>
                  <a:pt x="0" y="0"/>
                </a:lnTo>
                <a:lnTo>
                  <a:pt x="0" y="2864404"/>
                </a:lnTo>
                <a:lnTo>
                  <a:pt x="2869622" y="2864404"/>
                </a:lnTo>
                <a:lnTo>
                  <a:pt x="286962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1990558" y="2199748"/>
            <a:ext cx="3817938" cy="821487"/>
            <a:chOff x="0" y="0"/>
            <a:chExt cx="1005548" cy="2163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5548" cy="216359"/>
            </a:xfrm>
            <a:custGeom>
              <a:avLst/>
              <a:gdLst/>
              <a:ahLst/>
              <a:cxnLst/>
              <a:rect r="r" b="b" t="t" l="l"/>
              <a:pathLst>
                <a:path h="216359" w="1005548">
                  <a:moveTo>
                    <a:pt x="108179" y="0"/>
                  </a:moveTo>
                  <a:lnTo>
                    <a:pt x="897368" y="0"/>
                  </a:lnTo>
                  <a:cubicBezTo>
                    <a:pt x="926059" y="0"/>
                    <a:pt x="953575" y="11397"/>
                    <a:pt x="973863" y="31685"/>
                  </a:cubicBezTo>
                  <a:cubicBezTo>
                    <a:pt x="994150" y="51973"/>
                    <a:pt x="1005548" y="79488"/>
                    <a:pt x="1005548" y="108179"/>
                  </a:cubicBezTo>
                  <a:lnTo>
                    <a:pt x="1005548" y="108179"/>
                  </a:lnTo>
                  <a:cubicBezTo>
                    <a:pt x="1005548" y="167925"/>
                    <a:pt x="957114" y="216359"/>
                    <a:pt x="897368" y="216359"/>
                  </a:cubicBezTo>
                  <a:lnTo>
                    <a:pt x="108179" y="216359"/>
                  </a:lnTo>
                  <a:cubicBezTo>
                    <a:pt x="79488" y="216359"/>
                    <a:pt x="51973" y="204961"/>
                    <a:pt x="31685" y="184674"/>
                  </a:cubicBezTo>
                  <a:cubicBezTo>
                    <a:pt x="11397" y="164386"/>
                    <a:pt x="0" y="136870"/>
                    <a:pt x="0" y="108179"/>
                  </a:cubicBezTo>
                  <a:lnTo>
                    <a:pt x="0" y="108179"/>
                  </a:lnTo>
                  <a:cubicBezTo>
                    <a:pt x="0" y="79488"/>
                    <a:pt x="11397" y="51973"/>
                    <a:pt x="31685" y="31685"/>
                  </a:cubicBezTo>
                  <a:cubicBezTo>
                    <a:pt x="51973" y="11397"/>
                    <a:pt x="79488" y="0"/>
                    <a:pt x="1081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005548" cy="244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80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2927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Seguridad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10114" y="4859320"/>
            <a:ext cx="3817938" cy="821487"/>
            <a:chOff x="0" y="0"/>
            <a:chExt cx="1005548" cy="2163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5548" cy="216359"/>
            </a:xfrm>
            <a:custGeom>
              <a:avLst/>
              <a:gdLst/>
              <a:ahLst/>
              <a:cxnLst/>
              <a:rect r="r" b="b" t="t" l="l"/>
              <a:pathLst>
                <a:path h="216359" w="1005548">
                  <a:moveTo>
                    <a:pt x="108179" y="0"/>
                  </a:moveTo>
                  <a:lnTo>
                    <a:pt x="897368" y="0"/>
                  </a:lnTo>
                  <a:cubicBezTo>
                    <a:pt x="926059" y="0"/>
                    <a:pt x="953575" y="11397"/>
                    <a:pt x="973863" y="31685"/>
                  </a:cubicBezTo>
                  <a:cubicBezTo>
                    <a:pt x="994150" y="51973"/>
                    <a:pt x="1005548" y="79488"/>
                    <a:pt x="1005548" y="108179"/>
                  </a:cubicBezTo>
                  <a:lnTo>
                    <a:pt x="1005548" y="108179"/>
                  </a:lnTo>
                  <a:cubicBezTo>
                    <a:pt x="1005548" y="167925"/>
                    <a:pt x="957114" y="216359"/>
                    <a:pt x="897368" y="216359"/>
                  </a:cubicBezTo>
                  <a:lnTo>
                    <a:pt x="108179" y="216359"/>
                  </a:lnTo>
                  <a:cubicBezTo>
                    <a:pt x="79488" y="216359"/>
                    <a:pt x="51973" y="204961"/>
                    <a:pt x="31685" y="184674"/>
                  </a:cubicBezTo>
                  <a:cubicBezTo>
                    <a:pt x="11397" y="164386"/>
                    <a:pt x="0" y="136870"/>
                    <a:pt x="0" y="108179"/>
                  </a:cubicBezTo>
                  <a:lnTo>
                    <a:pt x="0" y="108179"/>
                  </a:lnTo>
                  <a:cubicBezTo>
                    <a:pt x="0" y="79488"/>
                    <a:pt x="11397" y="51973"/>
                    <a:pt x="31685" y="31685"/>
                  </a:cubicBezTo>
                  <a:cubicBezTo>
                    <a:pt x="51973" y="11397"/>
                    <a:pt x="79488" y="0"/>
                    <a:pt x="1081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005548" cy="244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80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2927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Pruebas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295358" y="7087148"/>
            <a:ext cx="3817938" cy="922497"/>
            <a:chOff x="0" y="0"/>
            <a:chExt cx="1005548" cy="2429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548" cy="242962"/>
            </a:xfrm>
            <a:custGeom>
              <a:avLst/>
              <a:gdLst/>
              <a:ahLst/>
              <a:cxnLst/>
              <a:rect r="r" b="b" t="t" l="l"/>
              <a:pathLst>
                <a:path h="242962" w="1005548">
                  <a:moveTo>
                    <a:pt x="121481" y="0"/>
                  </a:moveTo>
                  <a:lnTo>
                    <a:pt x="884066" y="0"/>
                  </a:lnTo>
                  <a:cubicBezTo>
                    <a:pt x="951159" y="0"/>
                    <a:pt x="1005548" y="54389"/>
                    <a:pt x="1005548" y="121481"/>
                  </a:cubicBezTo>
                  <a:lnTo>
                    <a:pt x="1005548" y="121481"/>
                  </a:lnTo>
                  <a:cubicBezTo>
                    <a:pt x="1005548" y="188573"/>
                    <a:pt x="951159" y="242962"/>
                    <a:pt x="884066" y="242962"/>
                  </a:cubicBezTo>
                  <a:lnTo>
                    <a:pt x="121481" y="242962"/>
                  </a:lnTo>
                  <a:cubicBezTo>
                    <a:pt x="54389" y="242962"/>
                    <a:pt x="0" y="188573"/>
                    <a:pt x="0" y="121481"/>
                  </a:cubicBezTo>
                  <a:lnTo>
                    <a:pt x="0" y="121481"/>
                  </a:lnTo>
                  <a:cubicBezTo>
                    <a:pt x="0" y="54389"/>
                    <a:pt x="54389" y="0"/>
                    <a:pt x="12148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005548" cy="271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80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2927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Cierre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041573" y="2401648"/>
            <a:ext cx="3817938" cy="821487"/>
            <a:chOff x="0" y="0"/>
            <a:chExt cx="1005548" cy="2163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5548" cy="216359"/>
            </a:xfrm>
            <a:custGeom>
              <a:avLst/>
              <a:gdLst/>
              <a:ahLst/>
              <a:cxnLst/>
              <a:rect r="r" b="b" t="t" l="l"/>
              <a:pathLst>
                <a:path h="216359" w="1005548">
                  <a:moveTo>
                    <a:pt x="108179" y="0"/>
                  </a:moveTo>
                  <a:lnTo>
                    <a:pt x="897368" y="0"/>
                  </a:lnTo>
                  <a:cubicBezTo>
                    <a:pt x="926059" y="0"/>
                    <a:pt x="953575" y="11397"/>
                    <a:pt x="973863" y="31685"/>
                  </a:cubicBezTo>
                  <a:cubicBezTo>
                    <a:pt x="994150" y="51973"/>
                    <a:pt x="1005548" y="79488"/>
                    <a:pt x="1005548" y="108179"/>
                  </a:cubicBezTo>
                  <a:lnTo>
                    <a:pt x="1005548" y="108179"/>
                  </a:lnTo>
                  <a:cubicBezTo>
                    <a:pt x="1005548" y="167925"/>
                    <a:pt x="957114" y="216359"/>
                    <a:pt x="897368" y="216359"/>
                  </a:cubicBezTo>
                  <a:lnTo>
                    <a:pt x="108179" y="216359"/>
                  </a:lnTo>
                  <a:cubicBezTo>
                    <a:pt x="79488" y="216359"/>
                    <a:pt x="51973" y="204961"/>
                    <a:pt x="31685" y="184674"/>
                  </a:cubicBezTo>
                  <a:cubicBezTo>
                    <a:pt x="11397" y="164386"/>
                    <a:pt x="0" y="136870"/>
                    <a:pt x="0" y="108179"/>
                  </a:cubicBezTo>
                  <a:lnTo>
                    <a:pt x="0" y="108179"/>
                  </a:lnTo>
                  <a:cubicBezTo>
                    <a:pt x="0" y="79488"/>
                    <a:pt x="11397" y="51973"/>
                    <a:pt x="31685" y="31685"/>
                  </a:cubicBezTo>
                  <a:cubicBezTo>
                    <a:pt x="51973" y="11397"/>
                    <a:pt x="79488" y="0"/>
                    <a:pt x="1081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005548" cy="244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80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2927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Requerimientos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944541" y="4993309"/>
            <a:ext cx="3817938" cy="821487"/>
            <a:chOff x="0" y="0"/>
            <a:chExt cx="1005548" cy="2163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548" cy="216359"/>
            </a:xfrm>
            <a:custGeom>
              <a:avLst/>
              <a:gdLst/>
              <a:ahLst/>
              <a:cxnLst/>
              <a:rect r="r" b="b" t="t" l="l"/>
              <a:pathLst>
                <a:path h="216359" w="1005548">
                  <a:moveTo>
                    <a:pt x="108179" y="0"/>
                  </a:moveTo>
                  <a:lnTo>
                    <a:pt x="897368" y="0"/>
                  </a:lnTo>
                  <a:cubicBezTo>
                    <a:pt x="926059" y="0"/>
                    <a:pt x="953575" y="11397"/>
                    <a:pt x="973863" y="31685"/>
                  </a:cubicBezTo>
                  <a:cubicBezTo>
                    <a:pt x="994150" y="51973"/>
                    <a:pt x="1005548" y="79488"/>
                    <a:pt x="1005548" y="108179"/>
                  </a:cubicBezTo>
                  <a:lnTo>
                    <a:pt x="1005548" y="108179"/>
                  </a:lnTo>
                  <a:cubicBezTo>
                    <a:pt x="1005548" y="167925"/>
                    <a:pt x="957114" y="216359"/>
                    <a:pt x="897368" y="216359"/>
                  </a:cubicBezTo>
                  <a:lnTo>
                    <a:pt x="108179" y="216359"/>
                  </a:lnTo>
                  <a:cubicBezTo>
                    <a:pt x="79488" y="216359"/>
                    <a:pt x="51973" y="204961"/>
                    <a:pt x="31685" y="184674"/>
                  </a:cubicBezTo>
                  <a:cubicBezTo>
                    <a:pt x="11397" y="164386"/>
                    <a:pt x="0" y="136870"/>
                    <a:pt x="0" y="108179"/>
                  </a:cubicBezTo>
                  <a:lnTo>
                    <a:pt x="0" y="108179"/>
                  </a:lnTo>
                  <a:cubicBezTo>
                    <a:pt x="0" y="79488"/>
                    <a:pt x="11397" y="51973"/>
                    <a:pt x="31685" y="31685"/>
                  </a:cubicBezTo>
                  <a:cubicBezTo>
                    <a:pt x="51973" y="11397"/>
                    <a:pt x="79488" y="0"/>
                    <a:pt x="1081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005548" cy="244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80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2927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Diseño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041573" y="7087148"/>
            <a:ext cx="3817938" cy="922497"/>
            <a:chOff x="0" y="0"/>
            <a:chExt cx="1005548" cy="24296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5548" cy="242962"/>
            </a:xfrm>
            <a:custGeom>
              <a:avLst/>
              <a:gdLst/>
              <a:ahLst/>
              <a:cxnLst/>
              <a:rect r="r" b="b" t="t" l="l"/>
              <a:pathLst>
                <a:path h="242962" w="1005548">
                  <a:moveTo>
                    <a:pt x="121481" y="0"/>
                  </a:moveTo>
                  <a:lnTo>
                    <a:pt x="884066" y="0"/>
                  </a:lnTo>
                  <a:cubicBezTo>
                    <a:pt x="951159" y="0"/>
                    <a:pt x="1005548" y="54389"/>
                    <a:pt x="1005548" y="121481"/>
                  </a:cubicBezTo>
                  <a:lnTo>
                    <a:pt x="1005548" y="121481"/>
                  </a:lnTo>
                  <a:cubicBezTo>
                    <a:pt x="1005548" y="188573"/>
                    <a:pt x="951159" y="242962"/>
                    <a:pt x="884066" y="242962"/>
                  </a:cubicBezTo>
                  <a:lnTo>
                    <a:pt x="121481" y="242962"/>
                  </a:lnTo>
                  <a:cubicBezTo>
                    <a:pt x="54389" y="242962"/>
                    <a:pt x="0" y="188573"/>
                    <a:pt x="0" y="121481"/>
                  </a:cubicBezTo>
                  <a:lnTo>
                    <a:pt x="0" y="121481"/>
                  </a:lnTo>
                  <a:cubicBezTo>
                    <a:pt x="0" y="54389"/>
                    <a:pt x="54389" y="0"/>
                    <a:pt x="12148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1005548" cy="271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809"/>
                </a:lnSpc>
                <a:spcBef>
                  <a:spcPct val="0"/>
                </a:spcBef>
              </a:pPr>
              <a:r>
                <a:rPr lang="en-US" sz="2999">
                  <a:solidFill>
                    <a:srgbClr val="292727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Implementación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0419927" y="6965137"/>
            <a:ext cx="1313847" cy="1044508"/>
          </a:xfrm>
          <a:custGeom>
            <a:avLst/>
            <a:gdLst/>
            <a:ahLst/>
            <a:cxnLst/>
            <a:rect r="r" b="b" t="t" l="l"/>
            <a:pathLst>
              <a:path h="1044508" w="1313847">
                <a:moveTo>
                  <a:pt x="0" y="0"/>
                </a:moveTo>
                <a:lnTo>
                  <a:pt x="1313847" y="0"/>
                </a:lnTo>
                <a:lnTo>
                  <a:pt x="1313847" y="1044508"/>
                </a:lnTo>
                <a:lnTo>
                  <a:pt x="0" y="104450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0511422" y="3021235"/>
            <a:ext cx="1130857" cy="1130857"/>
          </a:xfrm>
          <a:custGeom>
            <a:avLst/>
            <a:gdLst/>
            <a:ahLst/>
            <a:cxnLst/>
            <a:rect r="r" b="b" t="t" l="l"/>
            <a:pathLst>
              <a:path h="1130857" w="1130857">
                <a:moveTo>
                  <a:pt x="0" y="0"/>
                </a:moveTo>
                <a:lnTo>
                  <a:pt x="1130857" y="0"/>
                </a:lnTo>
                <a:lnTo>
                  <a:pt x="1130857" y="1130857"/>
                </a:lnTo>
                <a:lnTo>
                  <a:pt x="0" y="113085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2636720" y="5785582"/>
            <a:ext cx="3746705" cy="38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228">
                <a:solidFill>
                  <a:srgbClr val="29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Funcionales y Seguridad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865117" y="117990"/>
            <a:ext cx="9939307" cy="109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03"/>
              </a:lnSpc>
            </a:pPr>
            <a:r>
              <a:rPr lang="en-US" sz="6399">
                <a:solidFill>
                  <a:srgbClr val="292727"/>
                </a:solidFill>
                <a:latin typeface="29LT Zarid Display"/>
                <a:ea typeface="29LT Zarid Display"/>
                <a:cs typeface="29LT Zarid Display"/>
                <a:sym typeface="29LT Zarid Display"/>
              </a:rPr>
              <a:t>METODOLOGÍA CASCADA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640333" y="3175510"/>
            <a:ext cx="3746705" cy="38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228">
                <a:solidFill>
                  <a:srgbClr val="29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Controles y Auditoria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839784" y="8114420"/>
            <a:ext cx="3746705" cy="38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228">
                <a:solidFill>
                  <a:srgbClr val="29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Integración y documentación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282474" y="5900521"/>
            <a:ext cx="3746705" cy="38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228">
                <a:solidFill>
                  <a:srgbClr val="29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Arquitectura, BD e interfaces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687692" y="3309613"/>
            <a:ext cx="3746705" cy="38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228">
                <a:solidFill>
                  <a:srgbClr val="29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Levantar y Analizar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587274" y="8159887"/>
            <a:ext cx="3746705" cy="38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228">
                <a:solidFill>
                  <a:srgbClr val="29272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Backend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8444833"/>
            <a:ext cx="1845523" cy="1842167"/>
          </a:xfrm>
          <a:custGeom>
            <a:avLst/>
            <a:gdLst/>
            <a:ahLst/>
            <a:cxnLst/>
            <a:rect r="r" b="b" t="t" l="l"/>
            <a:pathLst>
              <a:path h="1842167" w="1845523">
                <a:moveTo>
                  <a:pt x="1845523" y="0"/>
                </a:moveTo>
                <a:lnTo>
                  <a:pt x="0" y="0"/>
                </a:lnTo>
                <a:lnTo>
                  <a:pt x="0" y="1842167"/>
                </a:lnTo>
                <a:lnTo>
                  <a:pt x="1845523" y="1842167"/>
                </a:lnTo>
                <a:lnTo>
                  <a:pt x="184552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6442477" y="0"/>
            <a:ext cx="1845523" cy="1842167"/>
          </a:xfrm>
          <a:custGeom>
            <a:avLst/>
            <a:gdLst/>
            <a:ahLst/>
            <a:cxnLst/>
            <a:rect r="r" b="b" t="t" l="l"/>
            <a:pathLst>
              <a:path h="1842167" w="1845523">
                <a:moveTo>
                  <a:pt x="0" y="1842167"/>
                </a:moveTo>
                <a:lnTo>
                  <a:pt x="1845523" y="1842167"/>
                </a:lnTo>
                <a:lnTo>
                  <a:pt x="1845523" y="0"/>
                </a:lnTo>
                <a:lnTo>
                  <a:pt x="0" y="0"/>
                </a:lnTo>
                <a:lnTo>
                  <a:pt x="0" y="18421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22761" y="142359"/>
            <a:ext cx="16054530" cy="108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7"/>
              </a:lnSpc>
            </a:pPr>
            <a:r>
              <a:rPr lang="en-US" sz="6367" spc="-165">
                <a:solidFill>
                  <a:srgbClr val="292727"/>
                </a:solidFill>
                <a:latin typeface="29LT Zarid Display"/>
                <a:ea typeface="29LT Zarid Display"/>
                <a:cs typeface="29LT Zarid Display"/>
                <a:sym typeface="29LT Zarid Display"/>
              </a:rPr>
              <a:t>CRONOGRAMA PARA EL DESARROLLO DEL PROYECTO</a:t>
            </a:r>
          </a:p>
        </p:txBody>
      </p:sp>
      <p:graphicFrame>
        <p:nvGraphicFramePr>
          <p:cNvPr name="Object 5" id="5"/>
          <p:cNvGraphicFramePr/>
          <p:nvPr/>
        </p:nvGraphicFramePr>
        <p:xfrm>
          <a:off x="1881501" y="2632271"/>
          <a:ext cx="26403300" cy="7543800"/>
        </p:xfrm>
        <a:graphic>
          <a:graphicData uri="http://schemas.openxmlformats.org/presentationml/2006/ole">
            <p:oleObj imgW="31673800" imgH="128143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23318" y="7581194"/>
            <a:ext cx="4391680" cy="3127409"/>
          </a:xfrm>
          <a:custGeom>
            <a:avLst/>
            <a:gdLst/>
            <a:ahLst/>
            <a:cxnLst/>
            <a:rect r="r" b="b" t="t" l="l"/>
            <a:pathLst>
              <a:path h="3127409" w="4391680">
                <a:moveTo>
                  <a:pt x="0" y="0"/>
                </a:moveTo>
                <a:lnTo>
                  <a:pt x="4391680" y="0"/>
                </a:lnTo>
                <a:lnTo>
                  <a:pt x="4391680" y="3127408"/>
                </a:lnTo>
                <a:lnTo>
                  <a:pt x="0" y="3127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421607" y="-1083904"/>
            <a:ext cx="1982585" cy="4114800"/>
          </a:xfrm>
          <a:custGeom>
            <a:avLst/>
            <a:gdLst/>
            <a:ahLst/>
            <a:cxnLst/>
            <a:rect r="r" b="b" t="t" l="l"/>
            <a:pathLst>
              <a:path h="4114800" w="1982585">
                <a:moveTo>
                  <a:pt x="0" y="0"/>
                </a:moveTo>
                <a:lnTo>
                  <a:pt x="1982585" y="0"/>
                </a:lnTo>
                <a:lnTo>
                  <a:pt x="198258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70713" y="4018085"/>
            <a:ext cx="3086100" cy="1741653"/>
            <a:chOff x="0" y="0"/>
            <a:chExt cx="812800" cy="4587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458707"/>
            </a:xfrm>
            <a:custGeom>
              <a:avLst/>
              <a:gdLst/>
              <a:ahLst/>
              <a:cxnLst/>
              <a:rect r="r" b="b" t="t" l="l"/>
              <a:pathLst>
                <a:path h="458707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330766"/>
                  </a:lnTo>
                  <a:cubicBezTo>
                    <a:pt x="812800" y="364698"/>
                    <a:pt x="799321" y="397241"/>
                    <a:pt x="775327" y="421234"/>
                  </a:cubicBezTo>
                  <a:cubicBezTo>
                    <a:pt x="751333" y="445228"/>
                    <a:pt x="718791" y="458707"/>
                    <a:pt x="684859" y="458707"/>
                  </a:cubicBezTo>
                  <a:lnTo>
                    <a:pt x="127941" y="458707"/>
                  </a:lnTo>
                  <a:cubicBezTo>
                    <a:pt x="94009" y="458707"/>
                    <a:pt x="61467" y="445228"/>
                    <a:pt x="37473" y="421234"/>
                  </a:cubicBezTo>
                  <a:cubicBezTo>
                    <a:pt x="13479" y="397241"/>
                    <a:pt x="0" y="364698"/>
                    <a:pt x="0" y="330766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506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  <a:r>
                <a:rPr lang="en-US" sz="2228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Paciente</a:t>
              </a:r>
            </a:p>
            <a:p>
              <a:pPr algn="ctr">
                <a:lnSpc>
                  <a:spcPts val="3119"/>
                </a:lnSpc>
              </a:pPr>
              <a:r>
                <a:rPr lang="en-US" sz="2228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Panel web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412900" y="1840964"/>
            <a:ext cx="11970201" cy="1092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3"/>
              </a:lnSpc>
            </a:pPr>
            <a:r>
              <a:rPr lang="en-US" sz="6399" spc="-166">
                <a:solidFill>
                  <a:srgbClr val="292727"/>
                </a:solidFill>
                <a:latin typeface="29LT Zarid Display"/>
                <a:ea typeface="29LT Zarid Display"/>
                <a:cs typeface="29LT Zarid Display"/>
                <a:sym typeface="29LT Zarid Display"/>
              </a:rPr>
              <a:t>ARQUITECTURA DEL SOFTWARE</a:t>
            </a:r>
          </a:p>
        </p:txBody>
      </p:sp>
      <p:sp>
        <p:nvSpPr>
          <p:cNvPr name="AutoShape 8" id="8"/>
          <p:cNvSpPr/>
          <p:nvPr/>
        </p:nvSpPr>
        <p:spPr>
          <a:xfrm>
            <a:off x="4556813" y="4888912"/>
            <a:ext cx="119114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5747955" y="4018085"/>
            <a:ext cx="3086100" cy="1741653"/>
            <a:chOff x="0" y="0"/>
            <a:chExt cx="812800" cy="4587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458707"/>
            </a:xfrm>
            <a:custGeom>
              <a:avLst/>
              <a:gdLst/>
              <a:ahLst/>
              <a:cxnLst/>
              <a:rect r="r" b="b" t="t" l="l"/>
              <a:pathLst>
                <a:path h="458707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330766"/>
                  </a:lnTo>
                  <a:cubicBezTo>
                    <a:pt x="812800" y="364698"/>
                    <a:pt x="799321" y="397241"/>
                    <a:pt x="775327" y="421234"/>
                  </a:cubicBezTo>
                  <a:cubicBezTo>
                    <a:pt x="751333" y="445228"/>
                    <a:pt x="718791" y="458707"/>
                    <a:pt x="684859" y="458707"/>
                  </a:cubicBezTo>
                  <a:lnTo>
                    <a:pt x="127941" y="458707"/>
                  </a:lnTo>
                  <a:cubicBezTo>
                    <a:pt x="94009" y="458707"/>
                    <a:pt x="61467" y="445228"/>
                    <a:pt x="37473" y="421234"/>
                  </a:cubicBezTo>
                  <a:cubicBezTo>
                    <a:pt x="13479" y="397241"/>
                    <a:pt x="0" y="364698"/>
                    <a:pt x="0" y="330766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506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  <a:r>
                <a:rPr lang="en-US" sz="2228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Backend</a:t>
              </a:r>
            </a:p>
            <a:p>
              <a:pPr algn="ctr">
                <a:lnSpc>
                  <a:spcPts val="3119"/>
                </a:lnSpc>
              </a:pPr>
              <a:r>
                <a:rPr lang="en-US" sz="2228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API / Servicios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08305" y="4018085"/>
            <a:ext cx="3086100" cy="1741653"/>
            <a:chOff x="0" y="0"/>
            <a:chExt cx="812800" cy="4587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458707"/>
            </a:xfrm>
            <a:custGeom>
              <a:avLst/>
              <a:gdLst/>
              <a:ahLst/>
              <a:cxnLst/>
              <a:rect r="r" b="b" t="t" l="l"/>
              <a:pathLst>
                <a:path h="458707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330766"/>
                  </a:lnTo>
                  <a:cubicBezTo>
                    <a:pt x="812800" y="364698"/>
                    <a:pt x="799321" y="397241"/>
                    <a:pt x="775327" y="421234"/>
                  </a:cubicBezTo>
                  <a:cubicBezTo>
                    <a:pt x="751333" y="445228"/>
                    <a:pt x="718791" y="458707"/>
                    <a:pt x="684859" y="458707"/>
                  </a:cubicBezTo>
                  <a:lnTo>
                    <a:pt x="127941" y="458707"/>
                  </a:lnTo>
                  <a:cubicBezTo>
                    <a:pt x="94009" y="458707"/>
                    <a:pt x="61467" y="445228"/>
                    <a:pt x="37473" y="421234"/>
                  </a:cubicBezTo>
                  <a:cubicBezTo>
                    <a:pt x="13479" y="397241"/>
                    <a:pt x="0" y="364698"/>
                    <a:pt x="0" y="330766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12800" cy="506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  <a:r>
                <a:rPr lang="en-US" sz="2228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Base de Datos</a:t>
              </a:r>
            </a:p>
            <a:p>
              <a:pPr algn="ctr">
                <a:lnSpc>
                  <a:spcPts val="3119"/>
                </a:lnSpc>
              </a:pPr>
              <a:r>
                <a:rPr lang="en-US" sz="2228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Información Clínica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070730" y="4018085"/>
            <a:ext cx="3086100" cy="1741653"/>
            <a:chOff x="0" y="0"/>
            <a:chExt cx="812800" cy="45870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458707"/>
            </a:xfrm>
            <a:custGeom>
              <a:avLst/>
              <a:gdLst/>
              <a:ahLst/>
              <a:cxnLst/>
              <a:rect r="r" b="b" t="t" l="l"/>
              <a:pathLst>
                <a:path h="458707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330766"/>
                  </a:lnTo>
                  <a:cubicBezTo>
                    <a:pt x="812800" y="364698"/>
                    <a:pt x="799321" y="397241"/>
                    <a:pt x="775327" y="421234"/>
                  </a:cubicBezTo>
                  <a:cubicBezTo>
                    <a:pt x="751333" y="445228"/>
                    <a:pt x="718791" y="458707"/>
                    <a:pt x="684859" y="458707"/>
                  </a:cubicBezTo>
                  <a:lnTo>
                    <a:pt x="127941" y="458707"/>
                  </a:lnTo>
                  <a:cubicBezTo>
                    <a:pt x="94009" y="458707"/>
                    <a:pt x="61467" y="445228"/>
                    <a:pt x="37473" y="421234"/>
                  </a:cubicBezTo>
                  <a:cubicBezTo>
                    <a:pt x="13479" y="397241"/>
                    <a:pt x="0" y="364698"/>
                    <a:pt x="0" y="330766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12800" cy="5063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  <a:r>
                <a:rPr lang="en-US" sz="2228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Profesional</a:t>
              </a:r>
            </a:p>
            <a:p>
              <a:pPr algn="ctr">
                <a:lnSpc>
                  <a:spcPts val="3119"/>
                </a:lnSpc>
              </a:pPr>
              <a:r>
                <a:rPr lang="en-US" sz="2228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Panel Web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8834055" y="4888912"/>
            <a:ext cx="1141704" cy="18378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>
            <a:off x="12994405" y="4888912"/>
            <a:ext cx="107632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1470713" y="6488284"/>
            <a:ext cx="14590298" cy="1939514"/>
            <a:chOff x="0" y="0"/>
            <a:chExt cx="3842712" cy="5108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42712" cy="510819"/>
            </a:xfrm>
            <a:custGeom>
              <a:avLst/>
              <a:gdLst/>
              <a:ahLst/>
              <a:cxnLst/>
              <a:rect r="r" b="b" t="t" l="l"/>
              <a:pathLst>
                <a:path h="510819" w="3842712">
                  <a:moveTo>
                    <a:pt x="27062" y="0"/>
                  </a:moveTo>
                  <a:lnTo>
                    <a:pt x="3815651" y="0"/>
                  </a:lnTo>
                  <a:cubicBezTo>
                    <a:pt x="3822828" y="0"/>
                    <a:pt x="3829711" y="2851"/>
                    <a:pt x="3834786" y="7926"/>
                  </a:cubicBezTo>
                  <a:cubicBezTo>
                    <a:pt x="3839861" y="13001"/>
                    <a:pt x="3842712" y="19884"/>
                    <a:pt x="3842712" y="27062"/>
                  </a:cubicBezTo>
                  <a:lnTo>
                    <a:pt x="3842712" y="483757"/>
                  </a:lnTo>
                  <a:cubicBezTo>
                    <a:pt x="3842712" y="498703"/>
                    <a:pt x="3830596" y="510819"/>
                    <a:pt x="3815651" y="510819"/>
                  </a:cubicBezTo>
                  <a:lnTo>
                    <a:pt x="27062" y="510819"/>
                  </a:lnTo>
                  <a:cubicBezTo>
                    <a:pt x="19884" y="510819"/>
                    <a:pt x="13001" y="507967"/>
                    <a:pt x="7926" y="502892"/>
                  </a:cubicBezTo>
                  <a:cubicBezTo>
                    <a:pt x="2851" y="497817"/>
                    <a:pt x="0" y="490934"/>
                    <a:pt x="0" y="483757"/>
                  </a:cubicBezTo>
                  <a:lnTo>
                    <a:pt x="0" y="27062"/>
                  </a:lnTo>
                  <a:cubicBezTo>
                    <a:pt x="0" y="12116"/>
                    <a:pt x="12116" y="0"/>
                    <a:pt x="27062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842712" cy="558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  <a:r>
                <a:rPr lang="en-US" sz="2228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Capa de Seguridad</a:t>
              </a:r>
            </a:p>
            <a:p>
              <a:pPr algn="ctr">
                <a:lnSpc>
                  <a:spcPts val="3119"/>
                </a:lnSpc>
              </a:pPr>
              <a:r>
                <a:rPr lang="en-US" sz="2228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Autenticación / Autorización / Validación de Archivos / Auditoría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534047" y="8697595"/>
            <a:ext cx="1260001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292727"/>
                </a:solidFill>
                <a:latin typeface="Open Sans"/>
                <a:ea typeface="Open Sans"/>
                <a:cs typeface="Open Sans"/>
                <a:sym typeface="Open Sans"/>
              </a:rPr>
              <a:t>La solución integra los servicios backend, la base de datos y el panel web para gestionar los exámenes médicos.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D1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972595">
            <a:off x="-2044352" y="3122077"/>
            <a:ext cx="5441478" cy="4640096"/>
          </a:xfrm>
          <a:custGeom>
            <a:avLst/>
            <a:gdLst/>
            <a:ahLst/>
            <a:cxnLst/>
            <a:rect r="r" b="b" t="t" l="l"/>
            <a:pathLst>
              <a:path h="4640096" w="5441478">
                <a:moveTo>
                  <a:pt x="0" y="0"/>
                </a:moveTo>
                <a:lnTo>
                  <a:pt x="5441477" y="0"/>
                </a:lnTo>
                <a:lnTo>
                  <a:pt x="5441477" y="4640096"/>
                </a:lnTo>
                <a:lnTo>
                  <a:pt x="0" y="4640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978564">
            <a:off x="14899621" y="3120301"/>
            <a:ext cx="5441478" cy="4640096"/>
          </a:xfrm>
          <a:custGeom>
            <a:avLst/>
            <a:gdLst/>
            <a:ahLst/>
            <a:cxnLst/>
            <a:rect r="r" b="b" t="t" l="l"/>
            <a:pathLst>
              <a:path h="4640096" w="5441478">
                <a:moveTo>
                  <a:pt x="5441477" y="0"/>
                </a:moveTo>
                <a:lnTo>
                  <a:pt x="0" y="0"/>
                </a:lnTo>
                <a:lnTo>
                  <a:pt x="0" y="4640097"/>
                </a:lnTo>
                <a:lnTo>
                  <a:pt x="5441477" y="4640097"/>
                </a:lnTo>
                <a:lnTo>
                  <a:pt x="54414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032015" y="-209805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6861494" y="829907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82288" y="2448555"/>
            <a:ext cx="9814254" cy="327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0"/>
              </a:lnSpc>
            </a:pPr>
            <a:r>
              <a:rPr lang="en-US" sz="12000" spc="384">
                <a:solidFill>
                  <a:srgbClr val="292727"/>
                </a:solidFill>
                <a:latin typeface="29LT Zarid Display"/>
                <a:ea typeface="29LT Zarid Display"/>
                <a:cs typeface="29LT Zarid Display"/>
                <a:sym typeface="29LT Zarid Display"/>
              </a:rPr>
              <a:t>MUCHAS</a:t>
            </a:r>
          </a:p>
          <a:p>
            <a:pPr algn="ctr" marL="0" indent="0" lvl="0">
              <a:lnSpc>
                <a:spcPts val="11280"/>
              </a:lnSpc>
            </a:pPr>
            <a:r>
              <a:rPr lang="en-US" sz="12000" spc="384">
                <a:solidFill>
                  <a:srgbClr val="292727"/>
                </a:solidFill>
                <a:latin typeface="29LT Zarid Display"/>
                <a:ea typeface="29LT Zarid Display"/>
                <a:cs typeface="29LT Zarid Display"/>
                <a:sym typeface="29LT Zarid Display"/>
              </a:rPr>
              <a:t>GRACIAS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946290" y="5721345"/>
            <a:ext cx="4286250" cy="4114800"/>
          </a:xfrm>
          <a:custGeom>
            <a:avLst/>
            <a:gdLst/>
            <a:ahLst/>
            <a:cxnLst/>
            <a:rect r="r" b="b" t="t" l="l"/>
            <a:pathLst>
              <a:path h="4114800" w="4286250">
                <a:moveTo>
                  <a:pt x="0" y="0"/>
                </a:moveTo>
                <a:lnTo>
                  <a:pt x="4286250" y="0"/>
                </a:lnTo>
                <a:lnTo>
                  <a:pt x="42862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DAHUs-olWvs</dc:identifier>
  <dcterms:modified xsi:type="dcterms:W3CDTF">2011-08-01T06:04:30Z</dcterms:modified>
  <cp:revision>1</cp:revision>
  <dc:title>Presentación Proyecto Final</dc:title>
</cp:coreProperties>
</file>